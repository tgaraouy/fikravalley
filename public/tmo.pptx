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KRA VALLEY: Innovating Tomorrow's Tech in Morocco" id="{EC4ADB5F-95BE-4FC0-A288-E649487E3774}">
          <p14:sldIdLst/>
        </p14:section>
        <p14:section name="Analysis" id="{B7C204CF-0622-467C-B063-D44D415050A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8" d="100"/>
          <a:sy n="98" d="100"/>
        </p:scale>
        <p:origin x="4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6761A-720B-4464-8B8C-C2C275835A1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EE27E-9D38-4909-B937-398BB03D7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7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deck showcases two connected stories and how CSS operated as the Customer's business and development arm to deliver sustained outcomes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06421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Stage 1 success de-risked the platform and earned trust to scale enterprise transformation (ERP/BPM, then SCM/DLM).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85157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Run-to-innovate—operations continuously feed the roadmap and enhancements.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83767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stabilized the device financing backbone to enable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84013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became the reference architecture for later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44730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Co-ownership accelerated safe change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36068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results validated the HA/operating model and accelerated Stage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48646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Finance first to standardize close, controls, and reporting; then SCM/DLM to unify fulfillment and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19574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Finance is automated and audit-ready with faster cycle times and standard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78137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DLM in PaaS aligns to the same HA and governance standards as OFSLL and ERP.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29867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reuse Stage 1 patterns to minimize risk and speed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69843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Governance and change enablement are foundational for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34292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Measurable continuity and performance sustain executive confidence and 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04780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principles continue into the network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31742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One Oracle backbone—PMO, standards, HA, agile delivery—continues to guide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68691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 to current state architecture diagrams and runbooks.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09854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Escalation paths and cadence underpin predictable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479260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traffic-light statuses; annotate root causes and actions for any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51290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 horizontal timeline with foundation → scale → network, and a metrics band across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38276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734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472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3152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4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29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77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53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04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219385-CEEC-20A5-C72F-B13448DE6E0F}"/>
              </a:ext>
            </a:extLst>
          </p:cNvPr>
          <p:cNvSpPr/>
          <p:nvPr/>
        </p:nvSpPr>
        <p:spPr>
          <a:xfrm>
            <a:off x="0" y="-12003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0997" y="-2673001"/>
            <a:ext cx="6870003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00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57856" y="-2666214"/>
            <a:ext cx="6876288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6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62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2093976"/>
            <a:ext cx="8229600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73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17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6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96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44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59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93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97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18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60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63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921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9564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051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85415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75326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35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585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49724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893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597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294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6550152" cy="4489704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600" y="1801367"/>
            <a:ext cx="3718561" cy="44897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125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814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491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64922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70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18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593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33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54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63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64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01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085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04E38F-46D8-838A-C636-0958E5B36C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2775" y="2313433"/>
            <a:ext cx="5165725" cy="4000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8F84C8F-5A53-198D-2CB3-A78F006C4D2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00800" y="2313430"/>
            <a:ext cx="5165725" cy="4000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30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98999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708347-B003-2458-75EC-D8317FBF028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2775" y="2794000"/>
            <a:ext cx="5165725" cy="35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9899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F3E993C-0A55-1F54-C280-76AF30E5377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00800" y="2794000"/>
            <a:ext cx="5166360" cy="35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614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250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7374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5003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658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15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26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75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One Oracle in Action—From OFSLL Foundation to ERP/BPM and SCM/DLM Scale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CSS-led transformation, operations, and innovation as the customer's business and development arm</a:t>
            </a:r>
          </a:p>
          <a:p>
            <a:endParaRPr dirty="0"/>
          </a:p>
          <a:p>
            <a:r>
              <a:rPr dirty="0"/>
              <a:t>Two connected stories: Stage 1 (OFSLL on OCI) and Stage 2 (ERP/BPM live; SCM + custom DLM phased from Mar-2026)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Stage 1: Highly available OFSLL on OCI with rapid switchovers; enterprise-grade SLAs; zero critical business interruptions cited</a:t>
            </a:r>
          </a:p>
          <a:p>
            <a:r>
              <a:rPr sz="2400" dirty="0"/>
              <a:t>Stage 2: ERP/BPM live since April 2025 (&gt;6 months); SCM + custom DLM on OCI in phased go-lives starting March 2026</a:t>
            </a:r>
          </a:p>
          <a:p>
            <a:r>
              <a:rPr sz="2400" dirty="0"/>
              <a:t>Why it worked: One Oracle PMO and governance, automation-first ops, phased continuity, co-ownership of KPIs/ROI</a:t>
            </a:r>
          </a:p>
          <a:p>
            <a:r>
              <a:rPr sz="2400" dirty="0"/>
              <a:t>Proof: 15-min RTO target; zero-downtime releases; 99%+ availability; 20M+ API/day; 8K+ TPS; 0 P1/P2 incidents in two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One Oracle Operating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CSS as Accountable Sustainment Partner unifying practices, codifying architecture, and co-owning outcomes</a:t>
            </a:r>
          </a:p>
          <a:p>
            <a:r>
              <a:t>Central PMO with delivery/security/compliance standards, MBR/QBR cadence, clear escalation paths</a:t>
            </a:r>
          </a:p>
          <a:p>
            <a:r>
              <a:t>Operate-to-innovate: 24x7 operations, proactive monitoring, sprint-based enhancements, release pipelines, UAT/QA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Stage 1—Situation and Objectives (5 years back)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Legacy complexity and integration constraints in device financing; high expectations for continuity and performance</a:t>
            </a:r>
          </a:p>
          <a:p>
            <a:r>
              <a:t>Objectives: resilient loan/lease platform, HA on OCI, rapid/low-risk switchovers, measurable SLAs</a:t>
            </a:r>
          </a:p>
          <a:p>
            <a:r>
              <a:t>Establish a trusted foundation to scale enterprise 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Stage 1—Architecture and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Multi-region OCI pattern: Production, Near HA, Far HA; ADG; rapid switchover/standby patterns</a:t>
            </a:r>
          </a:p>
          <a:p>
            <a:r>
              <a:t>Zero-downtime deployment methods; automated monitoring and capacity planning</a:t>
            </a:r>
          </a:p>
          <a:p>
            <a:r>
              <a:t>Target: 15-minute Recovery Time Objective for critical 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1—Execution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Phased/parallel cutovers; API standardization; robust data validation</a:t>
            </a:r>
          </a:p>
          <a:p>
            <a:r>
              <a:t>Coordinated communications; runbooks for switchovers; self-assigned daily ops across IT and business</a:t>
            </a:r>
          </a:p>
          <a:p>
            <a:r>
              <a:t>Strict quality and security standards across migrations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1—Outcomes and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20M+ OFSLL API calls/day; 8K+ TPS; 0 P1/P2 incidents in two years; 99%+ availability</a:t>
            </a:r>
          </a:p>
          <a:p>
            <a:r>
              <a:rPr lang="en-US" dirty="0"/>
              <a:t>N</a:t>
            </a:r>
            <a:r>
              <a:rPr dirty="0"/>
              <a:t>o SLA breaches cited in device finance</a:t>
            </a:r>
            <a:r>
              <a:rPr lang="en-US" dirty="0"/>
              <a:t> </a:t>
            </a:r>
            <a:endParaRPr dirty="0"/>
          </a:p>
          <a:p>
            <a:r>
              <a:rPr dirty="0"/>
              <a:t>Feature velocity for retail agility; model replicated for later phases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2—Scope and Phasing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Phase 1 (live since April 2025): ERP/BPM—GL, EPM (FCCS/ARCS), automated close and reconciliations, Workiva integration; Azure Data Mesh for financial reporting</a:t>
            </a:r>
          </a:p>
          <a:p>
            <a:r>
              <a:t>Phase 2 (starting March 2026): SCM SaaS + custom Device Lifecycle Management on OCI</a:t>
            </a:r>
          </a:p>
          <a:p>
            <a:r>
              <a:t>Logistics: R2a Puerto Rico (Jul 2026), R2b West Coast DC (Aug 2026), R2c remainder (Jan 2027)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Stage 2—ERP/BPM Outcomes (&gt;6 months live)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Established Oracle GL with expanded code block; automated feeder mappings, SAP JE mapping</a:t>
            </a:r>
          </a:p>
          <a:p>
            <a:r>
              <a:t>Accelerated month-end close; automated reconciliations; external reporting via Workiva; bridge to DT reporting</a:t>
            </a:r>
          </a:p>
          <a:p>
            <a:r>
              <a:t>EPM foundation for planning/forecasting established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Stage 2—SCM + Custom DLM Design and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SCM: automated fulfillment; real-time unified inventory visibility and valuation; partner and eCommerce portals; touchless invoicing</a:t>
            </a:r>
          </a:p>
          <a:p>
            <a:r>
              <a:t>Custom DLM on OCI: end-to-end device lifecycle tracking, reporting, lifecycle actions; complements Fusion SCM</a:t>
            </a:r>
          </a:p>
          <a:p>
            <a:r>
              <a:t>AI adoption roadmap, feature releases, architecture improvements, SLA enhancements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Stage 2—Risk Management and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Parallel migration and iterative testing; API standardization; strong data validation</a:t>
            </a:r>
          </a:p>
          <a:p>
            <a:r>
              <a:t>Coordinated cutovers; change enablement and training; stakeholder engagement</a:t>
            </a:r>
          </a:p>
          <a:p>
            <a:r>
              <a:t>Carry-forward resiliency: 15-min RTO target; zero-downtime releases; proactive monitoring and capacity planning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Governance, PMO,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Joint PMO for planning, dependency and risk management, standards, and executive reporting cadence</a:t>
            </a:r>
          </a:p>
          <a:p>
            <a:r>
              <a:t>Continuous value governance: sprint velocity, release pipeline, test suites, UAT/QA; measurable availability/incident and close KPIs</a:t>
            </a:r>
          </a:p>
          <a:p>
            <a:r>
              <a:t>Regular MBR/QBR; escalation model; documentation cadence and training programs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Tangible Impact and Value Realization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Streamlined operations; reduced legacy complexity; standardized processes across ERP, SCM, and device finance</a:t>
            </a:r>
          </a:p>
          <a:p>
            <a:r>
              <a:t>Enterprise availability and performance; consistent close; savings via managed operations and automation</a:t>
            </a:r>
          </a:p>
          <a:p>
            <a:r>
              <a:t>Multi-cloud, multi-partner transformation at scale; sustained innovation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outcomes first; collaborative governance drives success; phased delivery minimizes disruption</a:t>
            </a:r>
          </a:p>
          <a:p>
            <a:r>
              <a:t>Treat change management as a program; operate-to-innovate loop sustains value</a:t>
            </a:r>
          </a:p>
          <a:p>
            <a:r>
              <a:t>Co-ownership and standards accelerate time-to-value with lower risk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 (12–18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 SCM/DLM phases on schedule: R2a (Jul 2026), R2b (Aug 2026), R2c (Jan 2027)</a:t>
            </a:r>
          </a:p>
          <a:p>
            <a:r>
              <a:t>Expand EPM with AI/ML; continue architecture enhancements and SLA improvements</a:t>
            </a:r>
          </a:p>
          <a:p>
            <a:r>
              <a:t>Ongoing enablement for finance, supply chain, and device finance to drive adoption and ROI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Appendix—Architecture View (Prod, Near HA, Far HA)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Production/Near HA/Far HA clusters with ADG; LBaaS; ExaCS footprints; async ADG links</a:t>
            </a:r>
          </a:p>
          <a:p>
            <a:r>
              <a:t>Reference: switchover runbooks and zero-downtime release pipelines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Appendix—Program Workstreams and Escalations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Workstreams: PMO, Cloud Ops, Managed Services, CoE, Stakeholder Engagement and Change Management</a:t>
            </a:r>
          </a:p>
          <a:p>
            <a:r>
              <a:t>Communications and governance: MBR/QBR, risk/security/change boards; unified standards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Availability &amp; Resilience: availability (% target vs actual); RTO adherence (target 15 min); zero-downtime releases (#/quarter)</a:t>
            </a:r>
          </a:p>
          <a:p>
            <a:r>
              <a:t>Stability &amp; Throughput: P1/P2 incidents (rolling trend, target 0); API calls/day (avg/peak); TPS (avg/peak)</a:t>
            </a:r>
          </a:p>
          <a:p>
            <a:r>
              <a:t>Finance Ops: month-end close duration; reconciliation auto-complete rate; external reporting cycle time</a:t>
            </a:r>
          </a:p>
          <a:p>
            <a:r>
              <a:t>Delivery Velocity: sprints completed vs planned; release cadence; defect escape rate; UAT pass rate</a:t>
            </a:r>
          </a:p>
          <a:p>
            <a:r>
              <a:t>Adoption &amp; Enablement: training completion; active users; CSAT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Timeline—Foundation to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Stage 1 (5 years back): OFSLL on OCI; HA pattern (Prod/Near/Far), ADG, rapid switchovers; outcomes: 99%+ availability, 20M+ API/day, 8K+ TPS, 0 P1/P2 (2 yrs)</a:t>
            </a:r>
          </a:p>
          <a:p>
            <a:r>
              <a:t>Stage 2: ERP/BPM live Apr 2025; SCM + custom DLM phased from March 2026; R2a Jul 2026, R2b Aug 2026, R2c Jan 2027</a:t>
            </a:r>
          </a:p>
          <a:p>
            <a:r>
              <a:t>Stage 3: Network transformation—Projects, Fixed Assets, EPM, enterprise inventory; Go Live April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</Words>
  <Application>Microsoft Office PowerPoint</Application>
  <PresentationFormat>Widescreen</PresentationFormat>
  <Paragraphs>96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Light</vt:lpstr>
      <vt:lpstr>Arial</vt:lpstr>
      <vt:lpstr>Chroma</vt:lpstr>
      <vt:lpstr>One Oracle in Action—From OFSLL Foundation to ERP/BPM and SCM/DLM Scale</vt:lpstr>
      <vt:lpstr>Executive Summary</vt:lpstr>
      <vt:lpstr>The One Oracle Operating Model</vt:lpstr>
      <vt:lpstr>Stage 1—Situation and Objectives (5 years back)</vt:lpstr>
      <vt:lpstr>Stage 1—Architecture and Resilience</vt:lpstr>
      <vt:lpstr>Stage 1—Execution Approach</vt:lpstr>
      <vt:lpstr>Stage 1—Outcomes and Metrics</vt:lpstr>
      <vt:lpstr>Stage 2—Scope and Phasing</vt:lpstr>
      <vt:lpstr>Stage 2—ERP/BPM Outcomes (&gt;6 months live)</vt:lpstr>
      <vt:lpstr>Stage 2—SCM + Custom DLM Design and Value</vt:lpstr>
      <vt:lpstr>Stage 2—Risk Management and Readiness</vt:lpstr>
      <vt:lpstr>Governance, PMO, and KPIs</vt:lpstr>
      <vt:lpstr>Tangible Impact and Value Realization</vt:lpstr>
      <vt:lpstr>Lessons Learned</vt:lpstr>
      <vt:lpstr>What's Next (12–18 months)</vt:lpstr>
      <vt:lpstr>Appendix—Architecture View (Prod, Near HA, Far HA)</vt:lpstr>
      <vt:lpstr>Appendix—Program Workstreams and Escalations</vt:lpstr>
      <vt:lpstr>KPI Dashboard Template</vt:lpstr>
      <vt:lpstr>Timeline—Foundation to Scale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tawfik garaouy</dc:creator>
  <cp:lastModifiedBy>tawfik garaouy</cp:lastModifiedBy>
  <cp:revision>4</cp:revision>
  <dcterms:created xsi:type="dcterms:W3CDTF">2025-11-26T18:07:14Z</dcterms:created>
  <dcterms:modified xsi:type="dcterms:W3CDTF">2025-12-02T05:15:28Z</dcterms:modified>
</cp:coreProperties>
</file>